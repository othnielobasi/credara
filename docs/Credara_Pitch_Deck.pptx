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3258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Credara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317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CBD5E1"/>
                </a:solidFill>
              </a:defRPr>
            </a:pPr>
            <a:r>
              <a:t>Problem #1: SME trade finance on Polygon —</a:t>
            </a:r>
            <a:br/>
            <a:r>
              <a:t>tokenized receivables, Smart LC, on-chain credit scoring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4290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Smart Commerce Infrastructure Challenge  ·  Powered by Polygon  ·  DIFC-ready UAE corridor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4A3B8"/>
                </a:solidFill>
              </a:defRPr>
            </a:pPr>
            <a:r>
              <a:t>UAE: $50B+ payments corridor · PTSR live · 51.3% stablecoin activity — B2B settlement wedge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4A3B8"/>
                </a:solidFill>
              </a:defRPr>
            </a:pPr>
            <a:r>
              <a:t>Othniel Obasi &amp; Martins Nwanu  ·  NOVTIA Ltd  ·  credara-jet.vercel.app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THE AHA MOMENT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Supplier paid after verified delivery — not after 45 days of paperwork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11827"/>
                </a:solidFill>
              </a:defRPr>
            </a:pPr>
            <a:r>
              <a:t>1,000 MockUSDC released on Polygon Amoy after Smart LC verified delivery.</a:t>
            </a:r>
            <a:br/>
            <a:r>
              <a:t>Bank LC would still be on day 3 of manual processing.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46120"/>
            <a:ext cx="53035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63"/>
              </a:spcAft>
              <a:defRPr sz="1400">
                <a:solidFill>
                  <a:srgbClr val="111827"/>
                </a:solidFill>
              </a:defRPr>
            </a:pPr>
            <a:r>
              <a:t>Live product: credara-jet.vercel.app/workspace</a:t>
            </a:r>
          </a:p>
          <a:p>
            <a:pPr>
              <a:spcAft>
                <a:spcPts val="563"/>
              </a:spcAft>
              <a:defRPr sz="1400">
                <a:solidFill>
                  <a:srgbClr val="111827"/>
                </a:solidFill>
              </a:defRPr>
            </a:pPr>
            <a:r>
              <a:t>Judge Mode walks the flow in ~3 minutes</a:t>
            </a:r>
          </a:p>
          <a:p>
            <a:pPr>
              <a:spcAft>
                <a:spcPts val="563"/>
              </a:spcAft>
              <a:defRPr sz="1400">
                <a:solidFill>
                  <a:srgbClr val="111827"/>
                </a:solidFill>
              </a:defRPr>
            </a:pPr>
            <a:r>
              <a:t>Fail-closed: Simulated vs Anchored — no fake links</a:t>
            </a:r>
          </a:p>
        </p:txBody>
      </p:sp>
      <p:pic>
        <p:nvPicPr>
          <p:cNvPr id="10" name="Picture 9" descr="polygonscan-t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20240"/>
            <a:ext cx="5303520" cy="298323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22960" y="5349240"/>
            <a:ext cx="10515600" cy="685800"/>
          </a:xfrm>
          <a:prstGeom prst="roundRect">
            <a:avLst/>
          </a:prstGeom>
          <a:solidFill>
            <a:srgbClr val="ECFDF5"/>
          </a:solidFill>
          <a:ln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548640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A34A"/>
                </a:solidFill>
              </a:defRPr>
            </a:pPr>
            <a:r>
              <a:t>Verified release tx: https://amoy.polygonscan.com/tx/0x5743a885e54063da6c4056d73e4b49113918558fd09d8973c9074de8e57af9de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BEFORE · AFTER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Collapse 7–10 day LC friction → same-day proof-to-funding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7085"/>
                </a:solidFill>
              </a:defRPr>
            </a:pPr>
            <a:r>
              <a:t>Traditional bank LC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7–10 days manual processing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529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Paper trails banks can't verify fast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4198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~40% SME applications rejected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9867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667085"/>
                </a:solidFill>
              </a:defRPr>
            </a:pPr>
            <a:r>
              <a:t>✗  Supplier waits 45–90 days to get paid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7451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Credara (live today)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2860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Buyer confirms + delivery proof verified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85292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Proof hash anchored on Polygon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419856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Financier funds Smart LC escrow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98678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Stablecoin released same day after verify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783080"/>
            <a:ext cx="45720" cy="411480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601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7–10 days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Bank LC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3375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747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45–90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747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SME wait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521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Same 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Proof-to-fund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66760" y="4892040"/>
            <a:ext cx="2377440" cy="96012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500176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563EB"/>
                </a:solidFill>
              </a:defRPr>
            </a:pPr>
            <a:r>
              <a:t>3 min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5458968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67085"/>
                </a:solidFill>
              </a:defRPr>
            </a:pPr>
            <a:r>
              <a:t>Judge Mode demo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CHALLENGE FIT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Built exactly what Problem #1 asks for — on Polygon, live today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563EB"/>
                </a:solidFill>
              </a:defRPr>
            </a:pPr>
            <a:r>
              <a:t>Hackathon requirement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74519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6A34A"/>
                </a:solidFill>
              </a:defRPr>
            </a:pPr>
            <a:r>
              <a:t>Credara (shipped)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86000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Tokenized receivables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860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ReceivableRegistry + buyer-confirmed invoices → finance-ready receivables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999232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Smart contract letters of credit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99232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SmartLCFactory / SmartLC escrow lifecycle on Amoy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712464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On-chain trade credit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712464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CreditScoreAttestation + scoring workers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425696"/>
            <a:ext cx="5120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111827"/>
                </a:solidFill>
              </a:defRPr>
            </a:pPr>
            <a:r>
              <a:t>✓  Unlock SME capital · reduce friction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4425696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Judge Mode: proof anchor → fund LC → release in stablecoin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5257800"/>
            <a:ext cx="10515600" cy="6858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539496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Problem #2 (POS / tourist wallets) is out of MVP scope — same settlement rails are PTSR-ready for licensed AED stablecoin B2B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JUDGING CRITERIA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How Credara maps to what the panel scores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65960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103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Innovation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4688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Smart LC + proof anchoring + receivables in one UAE corridor stack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65960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031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Technical excellence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468880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Slither CI, fail-closed chain, live deploy, role-separated contracts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977639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User experience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480559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4 enterprise workspaces + 3-min Judge Mode guided demo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3977639"/>
            <a:ext cx="5120640" cy="16916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411480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563EB"/>
                </a:solidFill>
              </a:defRPr>
            </a:pPr>
            <a:r>
              <a:t>Real-world impact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4480559"/>
            <a:ext cx="4846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11827"/>
                </a:solidFill>
              </a:defRPr>
            </a:pPr>
            <a:r>
              <a:t>$2T gap · 40% SME rejection · Jebel Ali 15M+ TEUs — suppliers paid faster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SMEs wait months to get paid on goods already delivered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$2T+ global trade finance gap — demand unfilled or priced out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~40% of SME trade-finance applications rejected (weak evidence, not weak fundamentals)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Traditional LCs: 7–10 days of manual bank coordination and paper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Invoice fraud &amp; duplicate financing — lenders can't verify delivery independently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UAE corridor: Jebel Ali 15M+ TEUs/yr — high volume, high friction for suppliers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Verified trade evidence → finance-ready receivables → Smart LC settlement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Buyer-confirmed invoices + delivery proof become finance-ready receivables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Proof hashes anchored on Polygon — tamper-evident, documents stay off-chain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Programmable Smart LC escrow: fund → verify delivery → release in stablecoin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Four workspaces (SME, Buyer, Financier, Admin) on one shared trust layer</a:t>
            </a:r>
          </a:p>
          <a:p>
            <a:pPr>
              <a:spcAft>
                <a:spcPts val="724"/>
              </a:spcAft>
              <a:defRPr sz="1800">
                <a:solidFill>
                  <a:srgbClr val="111827"/>
                </a:solidFill>
              </a:defRPr>
            </a:pPr>
            <a:r>
              <a:t>Wedge: SME trade-finance slice of UAE corridor — not consumer remittance or POS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End-to-end flow (~3 min Judge Mode)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920240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7510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9659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938528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Order → invoice → delivery proof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61488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81635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80720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Buyer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779776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Confirm trade obligation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02736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364845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3621024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Create receivable · anchor proof on Polygon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443984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4988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448970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Financier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4462272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Deal room review · fund Smart LC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5285232"/>
            <a:ext cx="457200" cy="4572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534009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17320" y="533095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563EB"/>
                </a:solidFill>
              </a:defRPr>
            </a:pPr>
            <a:r>
              <a:t>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5303520"/>
            <a:ext cx="8046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Verify delivery · release settlement to seller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9436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Live: credara-jet.vercel.app/workspace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WHY CREDARA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Institutional-grade infrastructure, not a hash-on-chain demo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Fail-closed chain — No fake Polygonscan links. Simulated only when tx isn't on-chain.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Real persistence — Postgres-backed workspaces — no canned seed data for judges.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Role-separated LC — Verifier, dispute-resolver, pauser — not one key for every escrow.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Evidence-first — AIRG/SURGE discipline: cryptographic receipts, deterministic hashing.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Production path — Auth0, Didit KYB, Slither CI, Vercel deploy — shipped today.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Monorepo: web · API · workers · contracts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apps/web — Next.js enterprise dashboard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apps/api — FastAPI, Postgres, JWT, Auth0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apps/workers — relayer, indexer, scoring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contracts — Solidity 0.8.28, Amoy / PoS-ready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182880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ProofRegistry — anchor proof hashes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ReceivableRegistry — finance-ready state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SmartLCFactory / SmartLC — escrow lifecycle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CreditScoreAttestation — trade credit on-chain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MockUSDC — demo settlement (IERC20-agnostic)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1691640"/>
            <a:ext cx="45720" cy="438912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SETTLEMENT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0584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11827"/>
                </a:solidFill>
              </a:defRPr>
            </a:pPr>
            <a:r>
              <a:t>Today: MockUSDC on Amoy.</a:t>
            </a:r>
            <a:br/>
            <a:r>
              <a:t>Tomorrow: regulated AED stablecoin — same Smart LC 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7432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Demo proves create → fund → verify → release without claiming AED issuance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UAE CBUAE PTSR: regulated AED stablecoin partner — same Smart LC rails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Smart LC is token-agnostic — factory and proof conditions unchanged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Do say: settlement-ready · Don't say: we issue AED or we are remittance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GO-TO-MARKET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Pilot one corridor, then expand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Target: UAE SMEs, buyers, financiers — Jebel Ali supply chains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Land financiers first — verified receivables pull SME supply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DIFC ecosystem: 5,000+ VCs, 289 banks, 400+ mentors for pilot cohort</a:t>
            </a:r>
          </a:p>
          <a:p>
            <a:pPr>
              <a:spcAft>
                <a:spcPts val="684"/>
              </a:spcAft>
              <a:defRPr sz="1700">
                <a:solidFill>
                  <a:srgbClr val="111827"/>
                </a:solidFill>
              </a:defRPr>
            </a:pPr>
            <a:r>
              <a:t>Prove 7–10 day LC friction → same-day proof-to-funding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0" y="18288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286000"/>
            <a:ext cx="50292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Now: Amoy demo + Judge Mode (shipped)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Near-term: Didit KYB prod, Solidity audit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2: AED stablecoin partner</a:t>
            </a:r>
          </a:p>
          <a:p>
            <a:pPr>
              <a:spcAft>
                <a:spcPts val="603"/>
              </a:spcAft>
              <a:defRPr sz="1500">
                <a:solidFill>
                  <a:srgbClr val="667085"/>
                </a:solidFill>
              </a:defRPr>
            </a:pPr>
            <a:r>
              <a:t>Phase 3: Mainnet + API ecosystem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BUSINESS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Infrastructure economics — multiple revenue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Origination fee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2011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Per receivable financed via Smart LC marketplace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Platform / SaaS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78892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Verification, deal room, reporting — tiered by 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661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Settlement fee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5661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Basis points per LC fund/release vs. days of bank 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34340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</a:defRPr>
            </a:pPr>
            <a:r>
              <a:t>Credit scoring API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434340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111827"/>
                </a:solidFill>
              </a:defRPr>
            </a:pPr>
            <a:r>
              <a:t>Attestations for external lenders without full workspace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303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7085"/>
                </a:solidFill>
              </a:defRPr>
            </a:pPr>
            <a:r>
              <a:t>API-first: third parties integrate proof, receivable, and LC rails without Credara UI.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TEAM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Banking operators + engineering leadership — built to win financier trust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Othniel Obasi — Founder, NOVTIA Ltd (London)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2402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Digital banking: Creditville MFBank 40K → 100K+ users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Utilities: PHED — 5M+ customers, $96M+ revenue growth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AI governance: AIRG + SURGE v2 cryptographic receipt chain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Credara: evidence-first, fail-closed on-chain settlement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74519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563EB"/>
                </a:solidFill>
              </a:defRPr>
            </a:pPr>
            <a:r>
              <a:t>Martins Nwanu — Head of IT, Creditville Group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2240280"/>
            <a:ext cx="51206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Led 11-engineer team; core banking &amp; loan platform delivery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 Money app: 30K → 100K+ users; CI/CD and Agile at scale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Loan disbursement volumes scaled to ₦800M–₦1B/month</a:t>
            </a:r>
          </a:p>
          <a:p>
            <a:pPr>
              <a:spcAft>
                <a:spcPts val="603"/>
              </a:spcAft>
              <a:defRPr sz="1500">
                <a:solidFill>
                  <a:srgbClr val="111827"/>
                </a:solidFill>
              </a:defRPr>
            </a:pPr>
            <a:r>
              <a:t>Credara: enterprise workspace, API, and production deploy rigor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80760" y="1783080"/>
            <a:ext cx="45720" cy="4389120"/>
          </a:xfrm>
          <a:prstGeom prst="rect">
            <a:avLst/>
          </a:prstGeom>
          <a:solidFill>
            <a:srgbClr val="E7EA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563EB"/>
                </a:solidFill>
              </a:defRPr>
            </a:pPr>
            <a:r>
              <a:t>MVP — LIVE 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772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111827"/>
                </a:solidFill>
              </a:defRPr>
            </a:pPr>
            <a:r>
              <a:t>Test it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600200"/>
            <a:ext cx="109728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7085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7085"/>
                </a:solidFill>
              </a:defRPr>
            </a:pPr>
            <a:r>
              <a:t>credara-jet.vercel.app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credara-jet.vercel.app/workspace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credara-api.vercel.app/docs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Judge demo mode in sidebar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Polygon Amoy contracts deployed</a:t>
            </a:r>
          </a:p>
          <a:p>
            <a:pPr>
              <a:spcAft>
                <a:spcPts val="644"/>
              </a:spcAft>
              <a:defRPr sz="1600">
                <a:solidFill>
                  <a:srgbClr val="111827"/>
                </a:solidFill>
              </a:defRPr>
            </a:pPr>
            <a:r>
              <a:t>Slither + Hardhat tests in CI</a:t>
            </a:r>
          </a:p>
        </p:txBody>
      </p:sp>
      <p:pic>
        <p:nvPicPr>
          <p:cNvPr id="9" name="Picture 8" descr="workspace-judge-m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5303520" cy="3535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9893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67085"/>
                </a:solidFill>
              </a:defRPr>
            </a:pPr>
            <a:r>
              <a:t>Enterprise workspace (Judge Mode)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292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67085"/>
                </a:solidFill>
              </a:defRPr>
            </a:pPr>
            <a:r>
              <a:t>Non-goals: no remittance MVP · no POS · no AED issuance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486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6A34A"/>
                </a:solidFill>
              </a:defRPr>
            </a:pPr>
            <a:r>
              <a:t>Demo climax: Polygonscan proof anchor + Smart LC settlement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</a:defRPr>
            </a:pPr>
            <a:r>
              <a:t>Get paid in days, not months.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918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</a:defRPr>
            </a:pPr>
            <a:r>
              <a:t>Verified invoices. Polygon proof. Smart LC settlement.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7085"/>
                </a:solidFill>
              </a:defRPr>
            </a:pPr>
            <a:r>
              <a:t>credara-jet.vercel.app  ·  othnielobasi@gmail.com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0714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51052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</a:defRPr>
            </a:pPr>
            <a:r>
              <a:t>Credara · Smart Commerce Infrastructure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51052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FFFFFF"/>
                </a:solidFill>
              </a:defRPr>
            </a:pPr>
            <a:r>
              <a:t>credara-jet.vercel.app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